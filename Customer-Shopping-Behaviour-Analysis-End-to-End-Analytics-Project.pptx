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2" r:id="rId10"/>
    <p:sldId id="263" r:id="rId11"/>
    <p:sldId id="266" r:id="rId12"/>
    <p:sldId id="264" r:id="rId13"/>
    <p:sldId id="265" r:id="rId14"/>
  </p:sldIdLst>
  <p:sldSz cx="12192000" cy="6858000"/>
  <p:notesSz cx="6858000" cy="12192000"/>
  <p:embeddedFontLst>
    <p:embeddedFont>
      <p:font typeface="Roboto" panose="02000000000000000000" pitchFamily="2" charset="0"/>
      <p:regular r:id="rId16"/>
    </p:embeddedFont>
    <p:embeddedFont>
      <p:font typeface="Roboto Slab" pitchFamily="2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77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Behaviour Analysis — End-to-End Analytics Project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concise, professional portfolio report describing an end-to-end analytics workflow that transforms raw retail transaction data into actionable business insights using Python, MySQL, and Power BI.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Overview &amp; Problem Statement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Retailers collect massive online and in-store transaction data but often struggle to convert it into strategic insights. This project analyzes customer shopping behavior to reveal spending patterns, discount impact, subscription effects, and product performance — enabling targeted actions to boost revenue and retention.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432" y="564158"/>
            <a:ext cx="5187324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 &amp; Scope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32" y="1601887"/>
            <a:ext cx="4492215" cy="4492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76669" y="1625501"/>
            <a:ext cx="28984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Primary objectives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776669" y="2088852"/>
            <a:ext cx="5589845" cy="249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and preprocess transactional data with Python (Pandas, NumPy).</a:t>
            </a:r>
            <a:endParaRPr lang="en-US" sz="140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sanitized data into MySQL for SQL-based business analysis.</a:t>
            </a:r>
            <a:endParaRPr lang="en-US" sz="140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interactive Power BI dashboards to visualize KPIs and segments.</a:t>
            </a:r>
            <a:endParaRPr lang="en-US" sz="140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discount/subscription effects, top products, and customer segments.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76669" y="4759623"/>
            <a:ext cx="28984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Scope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76669" y="5222974"/>
            <a:ext cx="55898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Descriptive and diagnostic analytics across demographics, revenue, products, shipping, discounts, and segmentation. Predictive modeling is out of scope for this phase.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833066"/>
            <a:ext cx="63359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Tools &amp; Technology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801739"/>
            <a:ext cx="736582" cy="45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390" y="2801739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390" y="3210421"/>
            <a:ext cx="15671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cleaning, feature engineering, and exploratory analysis (Pandas, NumPy).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744" y="2801739"/>
            <a:ext cx="736582" cy="45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560" y="2801739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MySQL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560" y="3210421"/>
            <a:ext cx="156712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storage and SQL-driven business queries for revenue and segment analysis.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801739"/>
            <a:ext cx="736582" cy="4552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2801739"/>
            <a:ext cx="15671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3210421"/>
            <a:ext cx="156712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dashboards, KPIs, slicers for dynamic business exploration.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085" y="2801739"/>
            <a:ext cx="736582" cy="4552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2901" y="2801739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 &amp; Jupyter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2901" y="3210421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and reproducible notebooks for development and documentation.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0809" y="552748"/>
            <a:ext cx="481298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&amp; Preparation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809" y="1531938"/>
            <a:ext cx="4527536" cy="45276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0858" y="1431131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90858" y="1834257"/>
            <a:ext cx="3066180" cy="17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customer_id, age, gender, item_purchased, category, purchase_amount,         location, subscription_status, shipping_type, discount_applied,         previous_purchases, payment_method, review_rating, season, size, color.       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90858" y="3715246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90858" y="4118372"/>
            <a:ext cx="3066180" cy="213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with Pandas → dtype checks and structure validation</a:t>
            </a:r>
            <a:endParaRPr lang="en-US" sz="13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missing values, remove duplicates, standardize categories</a:t>
            </a:r>
            <a:endParaRPr lang="en-US" sz="13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Engineered fields: age_group, purchase_frequency, loyalty_segment</a:t>
            </a:r>
            <a:endParaRPr lang="en-US" sz="13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cleaned CSV for MySQL and Power BI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1DD20D-6B06-ABB1-7EBF-09E52B02F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6" y="237154"/>
            <a:ext cx="5617029" cy="2984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CB96D-1DA8-303F-1069-8711924B0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6" y="3429000"/>
            <a:ext cx="5735216" cy="3046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6B5584-240A-78C0-62CA-41DFF0D93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036" y="1502179"/>
            <a:ext cx="5617029" cy="298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12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4098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SQL-Based Business Analysis — Highlights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2134493"/>
            <a:ext cx="3059730" cy="1909862"/>
          </a:xfrm>
          <a:prstGeom prst="roundRect">
            <a:avLst>
              <a:gd name="adj" fmla="val 1438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844529" y="2317552"/>
            <a:ext cx="269362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Demographics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4529" y="2996009"/>
            <a:ext cx="269362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displayed higher aggregate revenue; Young Adults were the top age segment.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98505" y="2134493"/>
            <a:ext cx="3059830" cy="1909862"/>
          </a:xfrm>
          <a:prstGeom prst="roundRect">
            <a:avLst>
              <a:gd name="adj" fmla="val 1438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4081559" y="2317552"/>
            <a:ext cx="228882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Value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081559" y="2709962"/>
            <a:ext cx="269372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showed higher average spend and lifetime value compared to non-subscribers.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4221659"/>
            <a:ext cx="3059730" cy="1912243"/>
          </a:xfrm>
          <a:prstGeom prst="roundRect">
            <a:avLst>
              <a:gd name="adj" fmla="val 1436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844529" y="4404717"/>
            <a:ext cx="228882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Discount Dynamics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4529" y="4797127"/>
            <a:ext cx="269362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customers continued to spend above-average even when discounts applied — high-value discount users.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898505" y="4221659"/>
            <a:ext cx="3059830" cy="1912243"/>
          </a:xfrm>
          <a:prstGeom prst="roundRect">
            <a:avLst>
              <a:gd name="adj" fmla="val 1436"/>
            </a:avLst>
          </a:prstGeom>
          <a:solidFill>
            <a:srgbClr val="3F4652"/>
          </a:solidFill>
          <a:ln/>
        </p:spPr>
      </p:sp>
      <p:sp>
        <p:nvSpPr>
          <p:cNvPr id="14" name="Text 11"/>
          <p:cNvSpPr/>
          <p:nvPr/>
        </p:nvSpPr>
        <p:spPr>
          <a:xfrm>
            <a:off x="4081559" y="4404717"/>
            <a:ext cx="22957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Performance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81559" y="4797127"/>
            <a:ext cx="269372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Top-rated items (Gloves, Sandals, Boots, Hats, Handbags) and high-revenue categories (Clothing, Accessories).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23183-A48A-5106-964A-F9B2AC7C9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0" y="701740"/>
            <a:ext cx="10267332" cy="545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7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0525" y="566241"/>
            <a:ext cx="8498072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 &amp; Opportunity Map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796" y="1295698"/>
            <a:ext cx="5152102" cy="4410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8191" y="2617820"/>
            <a:ext cx="1986843" cy="24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 (1 purchase)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35882" y="2467700"/>
            <a:ext cx="1730762" cy="24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Returning (2–10)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779332" y="4534068"/>
            <a:ext cx="1501171" cy="24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 (&gt;10)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80525" y="5846366"/>
            <a:ext cx="88306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Segments guide engagement strategy: New customers need acquisition offers; Returning customers are prime targets for subscription conversion; Loyal customers receive retention &amp; VIP programs.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1050" y="525661"/>
            <a:ext cx="6159743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 Design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050" y="1468338"/>
            <a:ext cx="4689258" cy="46893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1147" y="1803896"/>
            <a:ext cx="33465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focus &amp; features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11147" y="2226667"/>
            <a:ext cx="4715848" cy="2252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cards: Total customers, Avg. purchase, Avg. review rating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Visuals: Revenue by category, Revenue by age group, Subscription pie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slicers: Gender, Category, Subscription, Shipping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principle: One consolidated dashboard screenshot for portfolio clarity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11147" y="4654054"/>
            <a:ext cx="4715848" cy="1148655"/>
          </a:xfrm>
          <a:prstGeom prst="roundRect">
            <a:avLst>
              <a:gd name="adj" fmla="val 2237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394" y="4902299"/>
            <a:ext cx="214109" cy="1712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7750" y="4836517"/>
            <a:ext cx="398799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Recommendation: Use one full-dashboard screenshot in portfolio for a professional, uncluttered presentation.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687B6-FB3E-7D09-D8FC-A028DCD19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88" y="508343"/>
            <a:ext cx="10431624" cy="56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6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9254"/>
            <a:ext cx="5187324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Findings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77454"/>
            <a:ext cx="457685" cy="4576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12694" y="1377454"/>
            <a:ext cx="228882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Drivers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912694" y="1769864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and Young Adult customers drive the greatest revenue; Clothing &amp; Accessories lead category revenue.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01429"/>
            <a:ext cx="457685" cy="4576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2694" y="2701429"/>
            <a:ext cx="228882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Discount Effects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912694" y="3093839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discounts convert price-sensitive buyers; some discount users remain high-value.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025404"/>
            <a:ext cx="457685" cy="4576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2694" y="4025404"/>
            <a:ext cx="228882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Satisfaction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912694" y="4417814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High-rated products correlate with repeat purchases — prioritize these for promotions.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349379"/>
            <a:ext cx="457685" cy="4576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12694" y="5349379"/>
            <a:ext cx="272963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Opportunity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5912694" y="5741789"/>
            <a:ext cx="561752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non-subscriber population and repeat buyers present strong conversion potential.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0284" y="531217"/>
            <a:ext cx="6168573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Recommendations &amp; Next Steps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284" y="1724918"/>
            <a:ext cx="4042468" cy="4042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09888" y="1281013"/>
            <a:ext cx="245540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Short-term actions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609888" y="1626989"/>
            <a:ext cx="2737674" cy="155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targeted subscription offers to repeat buyers; A/B test incentives.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top-rated, high-margin products in email and on-site placements.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discount strategy to protect margins while growing conversions.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609888" y="3295253"/>
            <a:ext cx="245540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Medium-term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609888" y="3641229"/>
            <a:ext cx="2737674" cy="1302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loyalty tiers for high-value customers and personalize experiences.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Power BI dashboard as a monitoring tool in stakeholder reports.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09888" y="5058866"/>
            <a:ext cx="252475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09888" y="5404842"/>
            <a:ext cx="2737674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predictive analytics (churn, CLTV) and recommender systems.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near–real-time data for operational monitoring.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683</Words>
  <Application>Microsoft Office PowerPoint</Application>
  <PresentationFormat>Widescreen</PresentationFormat>
  <Paragraphs>80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Roboto</vt:lpstr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Sindhu Rachabattuni</cp:lastModifiedBy>
  <cp:revision>2</cp:revision>
  <dcterms:created xsi:type="dcterms:W3CDTF">2026-06-13T10:49:42Z</dcterms:created>
  <dcterms:modified xsi:type="dcterms:W3CDTF">2026-06-13T10:52:54Z</dcterms:modified>
</cp:coreProperties>
</file>